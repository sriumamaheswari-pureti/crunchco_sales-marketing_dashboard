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uma maheswari pureti" userId="b603074ac33436e6" providerId="LiveId" clId="{CD0A18F4-CDA8-4198-8935-1402CE9A7114}"/>
    <pc:docChg chg="modSld">
      <pc:chgData name="sri uma maheswari pureti" userId="b603074ac33436e6" providerId="LiveId" clId="{CD0A18F4-CDA8-4198-8935-1402CE9A7114}" dt="2026-06-12T17:40:51.848" v="5" actId="14100"/>
      <pc:docMkLst>
        <pc:docMk/>
      </pc:docMkLst>
      <pc:sldChg chg="modSp mod">
        <pc:chgData name="sri uma maheswari pureti" userId="b603074ac33436e6" providerId="LiveId" clId="{CD0A18F4-CDA8-4198-8935-1402CE9A7114}" dt="2026-06-12T17:36:36.140" v="2" actId="1076"/>
        <pc:sldMkLst>
          <pc:docMk/>
          <pc:sldMk cId="0" sldId="259"/>
        </pc:sldMkLst>
        <pc:spChg chg="mod">
          <ac:chgData name="sri uma maheswari pureti" userId="b603074ac33436e6" providerId="LiveId" clId="{CD0A18F4-CDA8-4198-8935-1402CE9A7114}" dt="2026-06-12T17:36:36.140" v="2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sri uma maheswari pureti" userId="b603074ac33436e6" providerId="LiveId" clId="{CD0A18F4-CDA8-4198-8935-1402CE9A7114}" dt="2026-06-12T17:36:25.366" v="1" actId="1076"/>
          <ac:spMkLst>
            <pc:docMk/>
            <pc:sldMk cId="0" sldId="259"/>
            <ac:spMk id="36" creationId="{00000000-0000-0000-0000-000000000000}"/>
          </ac:spMkLst>
        </pc:spChg>
      </pc:sldChg>
      <pc:sldChg chg="modSp mod">
        <pc:chgData name="sri uma maheswari pureti" userId="b603074ac33436e6" providerId="LiveId" clId="{CD0A18F4-CDA8-4198-8935-1402CE9A7114}" dt="2026-06-12T17:38:15.846" v="3" actId="1076"/>
        <pc:sldMkLst>
          <pc:docMk/>
          <pc:sldMk cId="0" sldId="261"/>
        </pc:sldMkLst>
        <pc:spChg chg="mod">
          <ac:chgData name="sri uma maheswari pureti" userId="b603074ac33436e6" providerId="LiveId" clId="{CD0A18F4-CDA8-4198-8935-1402CE9A7114}" dt="2026-06-12T17:38:15.846" v="3" actId="1076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sri uma maheswari pureti" userId="b603074ac33436e6" providerId="LiveId" clId="{CD0A18F4-CDA8-4198-8935-1402CE9A7114}" dt="2026-06-12T17:40:51.848" v="5" actId="14100"/>
        <pc:sldMkLst>
          <pc:docMk/>
          <pc:sldMk cId="0" sldId="262"/>
        </pc:sldMkLst>
        <pc:spChg chg="mod">
          <ac:chgData name="sri uma maheswari pureti" userId="b603074ac33436e6" providerId="LiveId" clId="{CD0A18F4-CDA8-4198-8935-1402CE9A7114}" dt="2026-06-12T17:40:47.253" v="4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ri uma maheswari pureti" userId="b603074ac33436e6" providerId="LiveId" clId="{CD0A18F4-CDA8-4198-8935-1402CE9A7114}" dt="2026-06-12T17:40:51.848" v="5" actId="14100"/>
          <ac:spMkLst>
            <pc:docMk/>
            <pc:sldMk cId="0" sldId="262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4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502920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10928" y="502920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77856" y="502920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844784" y="502920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11712" y="502920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0" y="1069848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10928" y="1069848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77856" y="1069848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44784" y="1069848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11712" y="1069848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0" y="1636776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710928" y="1636776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77856" y="1636776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844784" y="1636776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411712" y="1636776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0" y="2203704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710928" y="2203704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7856" y="2203704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844784" y="2203704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411712" y="2203704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0" y="2770632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10928" y="2770632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77856" y="2770632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844784" y="2770632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411712" y="2770632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3337560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710928" y="3337560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77856" y="3337560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844784" y="3337560"/>
            <a:ext cx="109728" cy="109728"/>
          </a:xfrm>
          <a:prstGeom prst="ellipse">
            <a:avLst/>
          </a:prstGeom>
          <a:solidFill>
            <a:srgbClr val="00B5A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411712" y="3337560"/>
            <a:ext cx="109728" cy="109728"/>
          </a:xfrm>
          <a:prstGeom prst="ellipse">
            <a:avLst/>
          </a:prstGeom>
          <a:solidFill>
            <a:srgbClr val="00B5A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CRUNCHCO  ·  ANALYTICS BRIEF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17830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the Brand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00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Losing Ground?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658368" y="3657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diagnostic for the leadership team. Find what is actually driving the sales decline, decide where the next dollar should go, and make the case with evidence.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58368" y="5074920"/>
            <a:ext cx="10789920" cy="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" y="5230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FOR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" y="5477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CrunchCo Leadership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01568" y="5230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01568" y="5477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44768" y="5230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TIMEBOX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44768" y="5477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working days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887968" y="5230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TOOLSET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87968" y="5477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Situation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185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46520" cy="47548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2296" cy="4754880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CrunchCo</a:t>
            </a:r>
            <a:r>
              <a:rPr lang="en-US" sz="155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better-for-you snacking brand — chips and popcorn — sold almost entirely </a:t>
            </a:r>
            <a:r>
              <a:rPr lang="en-US" sz="1550" b="1" dirty="0">
                <a:solidFill>
                  <a:srgbClr val="068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retailers</a:t>
            </a:r>
            <a:r>
              <a:rPr lang="en-US" sz="155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national grocery, mass, and a growing online marketplace. We don't own the shelf or the checkout. We see the business through retailer sell-through, our product master, and our own media spend.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ago the brand was growing double digits. Net sales are now down year-on-year, with the sharpest drop in the most recent quarter — even though we have steadily increased media investment over the same period.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194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480060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CMO: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E8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sales are down because we're not spending enough on advertising. Tell me how much more media we need to get back to +5%.”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269480" y="1691640"/>
            <a:ext cx="4343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98080" y="1965960"/>
            <a:ext cx="457200" cy="457200"/>
          </a:xfrm>
          <a:prstGeom prst="ellipse">
            <a:avLst/>
          </a:prstGeom>
          <a:solidFill>
            <a:srgbClr val="00B5AD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208483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38160" y="19293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138160" y="231343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price, promotions, and out-of-stocks vary by chain and region.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269480" y="3282696"/>
            <a:ext cx="4343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498080" y="3557016"/>
            <a:ext cx="457200" cy="457200"/>
          </a:xfrm>
          <a:prstGeom prst="ellipse">
            <a:avLst/>
          </a:prstGeom>
          <a:solidFill>
            <a:srgbClr val="06857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367588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381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138160" y="39044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vs. value, pack mix, and category — not just the revenue line.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269480" y="4873752"/>
            <a:ext cx="4343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498080" y="5148072"/>
            <a:ext cx="457200" cy="457200"/>
          </a:xfrm>
          <a:prstGeom prst="ellipse">
            <a:avLst/>
          </a:prstGeom>
          <a:solidFill>
            <a:srgbClr val="F0A202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5266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38160" y="5111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8138160" y="549554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channel and week. Effects lag investment and eventually saturate.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185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brand back to </a:t>
            </a:r>
            <a:r>
              <a:rPr lang="en-US" sz="1700" b="1" dirty="0">
                <a:solidFill>
                  <a:srgbClr val="068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net sales</a:t>
            </a:r>
            <a:r>
              <a:rPr lang="en-US" sz="17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give leadership a clear, evidence-backed story about </a:t>
            </a:r>
            <a:r>
              <a:rPr lang="en-US" sz="17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really driving the decline </a:t>
            </a:r>
            <a:r>
              <a:rPr lang="en-US" sz="17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to do about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8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CMO's explanation against the data — don't assume it's right, and don't assume it's wrong.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697480" cy="324612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697480" cy="109728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3291840"/>
            <a:ext cx="548640" cy="548640"/>
          </a:xfrm>
          <a:prstGeom prst="ellipse">
            <a:avLst/>
          </a:prstGeom>
          <a:solidFill>
            <a:srgbClr val="00B5AD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343448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331720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1248" y="4069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41248" y="45262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decline — how much, where, and since when — and isolate its real drivers across distribution, price, promotion, mix, and media.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410712" y="2971800"/>
            <a:ext cx="2697480" cy="324612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10712" y="2971800"/>
            <a:ext cx="2697480" cy="109728"/>
          </a:xfrm>
          <a:prstGeom prst="rect">
            <a:avLst/>
          </a:prstGeom>
          <a:solidFill>
            <a:srgbClr val="0685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03320" y="3291840"/>
            <a:ext cx="548640" cy="548640"/>
          </a:xfrm>
          <a:prstGeom prst="ellipse">
            <a:avLst/>
          </a:prstGeom>
          <a:solidFill>
            <a:srgbClr val="06857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966" y="3434486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93792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703320" y="4069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Pressure-test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3703320" y="45262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relationship between media spend and sales, accounting for the lag and saturation in advertising. Is 'spend more' supported?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272784" y="2971800"/>
            <a:ext cx="2697480" cy="324612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272784" y="2971800"/>
            <a:ext cx="2697480" cy="109728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565392" y="3291840"/>
            <a:ext cx="548640" cy="548640"/>
          </a:xfrm>
          <a:prstGeom prst="ellipse">
            <a:avLst/>
          </a:prstGeom>
          <a:solidFill>
            <a:srgbClr val="F0A202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038" y="343448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55864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6565392" y="4069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6565392" y="45262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things worth fixing by expected impact, so leadership knows where the next dollar should go first.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9134856" y="2971800"/>
            <a:ext cx="2697480" cy="324612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134856" y="2971800"/>
            <a:ext cx="2697480" cy="109728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9427464" y="3291840"/>
            <a:ext cx="548640" cy="548640"/>
          </a:xfrm>
          <a:prstGeom prst="ellipse">
            <a:avLst/>
          </a:prstGeom>
          <a:solidFill>
            <a:srgbClr val="00B5AD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110" y="3434486"/>
            <a:ext cx="263347" cy="26334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917936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9427464" y="4069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</a:t>
            </a:r>
            <a:endParaRPr lang="en-US" sz="1900" dirty="0"/>
          </a:p>
        </p:txBody>
      </p:sp>
      <p:sp>
        <p:nvSpPr>
          <p:cNvPr id="34" name="Text 28"/>
          <p:cNvSpPr/>
          <p:nvPr/>
        </p:nvSpPr>
        <p:spPr>
          <a:xfrm>
            <a:off x="9427464" y="45262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a credible path back to +5%, with assumptions stated, risks named, and a way to measure whether it's working.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YOU'RE GIVEN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185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files, exported from different systems. They don't share a single clean key — getting them to line up correctly is the first piece of real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17830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11880" cy="91440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2395728"/>
            <a:ext cx="502920" cy="502920"/>
          </a:xfrm>
          <a:prstGeom prst="ellipse">
            <a:avLst/>
          </a:prstGeom>
          <a:solidFill>
            <a:srgbClr val="00B5AD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3" y="252648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sales_daily.csv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4672" y="294436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retailer sell-through: date, banner, store, region, SKU, units, gross &amp; net sales, promo flag, and stores selling. Jan 2022 to date — large, store-level.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79392" y="2103120"/>
            <a:ext cx="3611880" cy="17830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79392" y="2103120"/>
            <a:ext cx="3611880" cy="9144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17136" y="2395728"/>
            <a:ext cx="502920" cy="502920"/>
          </a:xfrm>
          <a:prstGeom prst="ellipse">
            <a:avLst/>
          </a:prstGeom>
          <a:solidFill>
            <a:srgbClr val="F0A202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895" y="2526487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48072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media_spend.csv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35424" y="294436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media by channel (TV, Digital, Social, Retail Media): planned spend, actual spend, and impressions.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10144" y="2103120"/>
            <a:ext cx="3611880" cy="17830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010144" y="2103120"/>
            <a:ext cx="3611880" cy="91440"/>
          </a:xfrm>
          <a:prstGeom prst="rect">
            <a:avLst/>
          </a:prstGeom>
          <a:solidFill>
            <a:srgbClr val="0685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47888" y="2395728"/>
            <a:ext cx="502920" cy="502920"/>
          </a:xfrm>
          <a:prstGeom prst="ellipse">
            <a:avLst/>
          </a:prstGeom>
          <a:solidFill>
            <a:srgbClr val="06857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647" y="2526487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78824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product_master.xlsx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266176" y="294436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reference: SKU, name, sub-brand, pack size, category, list price, and launch date.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4032504"/>
            <a:ext cx="3611880" cy="17830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8640" y="4032504"/>
            <a:ext cx="3611880" cy="91440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86384" y="4325112"/>
            <a:ext cx="502920" cy="502920"/>
          </a:xfrm>
          <a:prstGeom prst="ellipse">
            <a:avLst/>
          </a:prstGeom>
          <a:solidFill>
            <a:srgbClr val="00B5AD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43" y="4455871"/>
            <a:ext cx="241402" cy="24140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3068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store_region.csv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04672" y="48737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Store-to-banner-to-region mapping and market tier.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279392" y="4032504"/>
            <a:ext cx="3611880" cy="17830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315968" y="4032504"/>
            <a:ext cx="3611880" cy="9144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4517136" y="4325112"/>
            <a:ext cx="502920" cy="502920"/>
          </a:xfrm>
          <a:prstGeom prst="ellipse">
            <a:avLst/>
          </a:prstGeom>
          <a:solidFill>
            <a:srgbClr val="F0A202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895" y="4455871"/>
            <a:ext cx="241402" cy="24140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48072" y="43068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promo_log.csv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4535424" y="48737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/ banner / SKU: which promotions were planned and which actually ran.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8046720" y="4095496"/>
            <a:ext cx="3611880" cy="178308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8247888" y="4306824"/>
            <a:ext cx="502920" cy="502920"/>
          </a:xfrm>
          <a:prstGeom prst="ellipse">
            <a:avLst/>
          </a:prstGeom>
          <a:solidFill>
            <a:srgbClr val="F0A202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8647" y="4437583"/>
            <a:ext cx="241402" cy="24140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266176" y="4901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2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data like the real world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8266176" y="5276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imperfect. Check it before you trust it — validate keys, units, time coverage, and whether each field means what its name suggests.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Fields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185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256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85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sales_daily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3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day, e.g. 2025-09-15.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85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sales_daily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3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units / net_sales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 and net sales for that day / banner / store / SKU.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85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sales_daily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3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stores_selling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stores in that banner carrying the SKU that day.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85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sales_daily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3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promo_flag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a promotion was on the plan for that day / SKU.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85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product_master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3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sku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identifier. Note the format before you join.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85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media_spend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3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spend_actual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daily media spend by channel.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85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promo_log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3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promo_planned / promo_executed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a promo was planned vs. whether it actually ran.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lists the fields you'll reach for most — it is not a full schema. Open each file and confirm the columns and their contents yourself.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WANT ANSWERED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185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these in order. A rigorous answer to the first set is worth more than a rushed attempt at the last.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1207008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56816"/>
            <a:ext cx="2148840" cy="1207008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9120" y="2322576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680745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F0F6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what happened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121408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the decline, where is it concentrated, and when did it start? Look at value and volume.</a:t>
            </a:r>
            <a:endParaRPr lang="en-US" sz="128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net sales into the pieces that move it: price, volume, mix, distribution, and promotion.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11064240" cy="141732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2148840" cy="1417320"/>
          </a:xfrm>
          <a:prstGeom prst="rect">
            <a:avLst/>
          </a:prstGeom>
          <a:solidFill>
            <a:srgbClr val="0685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3717036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4050792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F0F6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why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438144"/>
            <a:ext cx="85039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explain most of the decline? Rank them, and back the ranking with evidence.</a:t>
            </a:r>
            <a:endParaRPr lang="en-US" sz="128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real relationship between media spend and sales once you account for lag and saturation?</a:t>
            </a:r>
            <a:endParaRPr lang="en-US" sz="128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and SKUs are healthy, and which are structurally declining?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1064240" cy="141732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2148840" cy="141732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5219671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55778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F0F6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what to 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4965192"/>
            <a:ext cx="85039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set of actions with a rough sense of their impact toward the +5% goal.</a:t>
            </a:r>
            <a:endParaRPr lang="en-US" sz="128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next marketing dollar go — and where should we stop spending?</a:t>
            </a:r>
            <a:endParaRPr lang="en-US" sz="128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8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know the diagnosis was right? Define what to measure.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WEEK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3400" y="55778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Days, Three Reviews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185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3108960"/>
            <a:ext cx="10424160" cy="0"/>
          </a:xfrm>
          <a:prstGeom prst="line">
            <a:avLst/>
          </a:prstGeom>
          <a:noFill/>
          <a:ln w="254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64792" y="2962656"/>
            <a:ext cx="292608" cy="292608"/>
          </a:xfrm>
          <a:prstGeom prst="ellipse">
            <a:avLst/>
          </a:prstGeom>
          <a:solidFill>
            <a:srgbClr val="00B5AD"/>
          </a:solidFill>
          <a:ln w="254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0016" y="1255776"/>
            <a:ext cx="1920240" cy="1554480"/>
          </a:xfrm>
          <a:prstGeom prst="rect">
            <a:avLst/>
          </a:prstGeom>
          <a:solidFill>
            <a:srgbClr val="12233A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335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9105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&amp; explore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problem, plan your approach, and take a first look at the data. Write down your hypotheses.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H="1">
            <a:off x="1911095" y="2779776"/>
            <a:ext cx="1" cy="274319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9624" y="2962656"/>
            <a:ext cx="292608" cy="292608"/>
          </a:xfrm>
          <a:prstGeom prst="ellipse">
            <a:avLst/>
          </a:prstGeom>
          <a:solidFill>
            <a:srgbClr val="F0A202"/>
          </a:solidFill>
          <a:ln w="254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35808" y="3438144"/>
            <a:ext cx="1920240" cy="15544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82112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95928" y="3547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82112" y="38039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dataset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82112" y="4370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join, and validate. Produce one analytical dataset and a short log of the issues you found.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95928" y="3108960"/>
            <a:ext cx="0" cy="329184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34456" y="2962656"/>
            <a:ext cx="292608" cy="292608"/>
          </a:xfrm>
          <a:prstGeom prst="ellipse">
            <a:avLst/>
          </a:prstGeom>
          <a:solidFill>
            <a:srgbClr val="00B5AD"/>
          </a:solidFill>
          <a:ln w="254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1225296"/>
            <a:ext cx="1920240" cy="1554480"/>
          </a:xfrm>
          <a:prstGeom prst="rect">
            <a:avLst/>
          </a:prstGeom>
          <a:solidFill>
            <a:srgbClr val="12233A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66944" y="1335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66944" y="159105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66944" y="215798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decline, test the media question, and rank the drivers.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779776"/>
            <a:ext cx="0" cy="329184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19288" y="2962656"/>
            <a:ext cx="292608" cy="292608"/>
          </a:xfrm>
          <a:prstGeom prst="ellipse">
            <a:avLst/>
          </a:prstGeom>
          <a:solidFill>
            <a:srgbClr val="F0A202"/>
          </a:solidFill>
          <a:ln w="254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05472" y="3438144"/>
            <a:ext cx="1920240" cy="155448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51776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65592" y="3547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51776" y="38039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 &amp; size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51776" y="4370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findings, size the interventions, and build the reallocation view.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65592" y="3108960"/>
            <a:ext cx="0" cy="329184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104120" y="2962656"/>
            <a:ext cx="292608" cy="292608"/>
          </a:xfrm>
          <a:prstGeom prst="ellipse">
            <a:avLst/>
          </a:prstGeom>
          <a:solidFill>
            <a:srgbClr val="F0A202"/>
          </a:solidFill>
          <a:ln w="254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90304" y="1225296"/>
            <a:ext cx="1920240" cy="1554480"/>
          </a:xfrm>
          <a:prstGeom prst="rect">
            <a:avLst/>
          </a:prstGeom>
          <a:solidFill>
            <a:srgbClr val="12233A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36608" y="1335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50424" y="13350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36608" y="159105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story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436608" y="215798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analysis into a clear recommendation for leadership and present it.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250424" y="2779776"/>
            <a:ext cx="0" cy="329184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EEF3F8"/>
          </a:solidFill>
          <a:ln/>
          <a:effectLst>
            <a:outerShdw blurRad="152400" dist="50800" dir="5400000" algn="bl" rotWithShape="0">
              <a:srgbClr val="0A1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82296" cy="91440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5669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reviews (Days 2, 4 and 5) are working sessions, not status updates.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ready to walk through your choices and defend them. “I assumed X because Y, and here's the risk” is exactly what we want to hear.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85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HAND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185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01168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09728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00B5AD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3609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dataset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cleaned, joined dataset behind your analysis — reproducible from the raw files.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440680" cy="201168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99632" y="1783080"/>
            <a:ext cx="5440680" cy="109728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65392" y="2194560"/>
            <a:ext cx="640080" cy="640080"/>
          </a:xfrm>
          <a:prstGeom prst="ellipse">
            <a:avLst/>
          </a:prstGeom>
          <a:solidFill>
            <a:srgbClr val="F0A202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23609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79792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notes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565392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log of the issues you found in the data and how you handled each one.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5440680" cy="201168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5440680" cy="109728"/>
          </a:xfrm>
          <a:prstGeom prst="rect">
            <a:avLst/>
          </a:prstGeom>
          <a:solidFill>
            <a:srgbClr val="0685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06857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1" y="46012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notebook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914400" y="5166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and re-runnable. Someone else should be able to follow and reproduce it.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199632" y="4023360"/>
            <a:ext cx="5440680" cy="2011680"/>
          </a:xfrm>
          <a:prstGeom prst="rect">
            <a:avLst/>
          </a:prstGeom>
          <a:solidFill>
            <a:srgbClr val="12233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199632" y="4023360"/>
            <a:ext cx="5440680" cy="109728"/>
          </a:xfrm>
          <a:prstGeom prst="rect">
            <a:avLst/>
          </a:prstGeom>
          <a:solidFill>
            <a:srgbClr val="0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565392" y="4434840"/>
            <a:ext cx="640080" cy="640080"/>
          </a:xfrm>
          <a:prstGeom prst="ellipse">
            <a:avLst/>
          </a:prstGeom>
          <a:solidFill>
            <a:srgbClr val="00B5AD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813" y="460126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79792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deck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6565392" y="5166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story: what's happening, why, what to do, and how we'll know it worked.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457200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03120" y="457200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51760" y="457200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1024128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54480" y="1024128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03120" y="1024128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1024128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591056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1591056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54480" y="1591056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591056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51760" y="1591056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2157984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54480" y="2157984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03120" y="2157984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51760" y="2157984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724912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5840" y="2724912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54480" y="2724912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03120" y="2724912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51760" y="2724912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05840" y="3291840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554480" y="3291840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03120" y="3291840"/>
            <a:ext cx="91440" cy="91440"/>
          </a:xfrm>
          <a:prstGeom prst="ellipse">
            <a:avLst/>
          </a:prstGeom>
          <a:solidFill>
            <a:srgbClr val="00B5A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651760" y="3291840"/>
            <a:ext cx="91440" cy="91440"/>
          </a:xfrm>
          <a:prstGeom prst="ellipse">
            <a:avLst/>
          </a:prstGeom>
          <a:solidFill>
            <a:srgbClr val="00B5A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APPROACH 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124358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That Matter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3657600" y="2240280"/>
            <a:ext cx="420624" cy="420624"/>
          </a:xfrm>
          <a:prstGeom prst="ellipse">
            <a:avLst/>
          </a:prstGeom>
          <a:solidFill>
            <a:srgbClr val="1C3A5E"/>
          </a:solidFill>
          <a:ln w="12700">
            <a:solidFill>
              <a:srgbClr val="0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0" y="22585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251960" y="22219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reasoning, not just your result.  </a:t>
            </a:r>
            <a:r>
              <a:rPr lang="en-US" sz="14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you got there matters as much as the number. A well-reasoned answer beats a lucky one.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3657600" y="2953512"/>
            <a:ext cx="420624" cy="420624"/>
          </a:xfrm>
          <a:prstGeom prst="ellipse">
            <a:avLst/>
          </a:prstGeom>
          <a:solidFill>
            <a:srgbClr val="1C3A5E"/>
          </a:solidFill>
          <a:ln w="12700">
            <a:solidFill>
              <a:srgbClr val="0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0" y="297180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251960" y="29352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assumption.  </a:t>
            </a:r>
            <a:r>
              <a:rPr lang="en-US" sz="14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assumption you didn't record is a hidden risk. Note it where you make it.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3657600" y="3666744"/>
            <a:ext cx="420624" cy="420624"/>
          </a:xfrm>
          <a:prstGeom prst="ellipse">
            <a:avLst/>
          </a:prstGeom>
          <a:solidFill>
            <a:srgbClr val="1C3A5E"/>
          </a:solidFill>
          <a:ln w="12700">
            <a:solidFill>
              <a:srgbClr val="0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0" y="368503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251960" y="36484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the brief.  </a:t>
            </a:r>
            <a:r>
              <a:rPr lang="en-US" sz="14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CMO's explanation may not hold up. If the data disagrees, say so — and show why.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3657600" y="4379976"/>
            <a:ext cx="420624" cy="420624"/>
          </a:xfrm>
          <a:prstGeom prst="ellipse">
            <a:avLst/>
          </a:prstGeom>
          <a:solidFill>
            <a:srgbClr val="1C3A5E"/>
          </a:solidFill>
          <a:ln w="12700">
            <a:solidFill>
              <a:srgbClr val="0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0" y="439826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251960" y="436168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reproducible.  </a:t>
            </a:r>
            <a:r>
              <a:rPr lang="en-US" sz="14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your notebook can't be re-run from the raw files, the analysis can't be trusted.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3657600" y="5093208"/>
            <a:ext cx="420624" cy="420624"/>
          </a:xfrm>
          <a:prstGeom prst="ellipse">
            <a:avLst/>
          </a:prstGeom>
          <a:solidFill>
            <a:srgbClr val="1C3A5E"/>
          </a:solidFill>
          <a:ln w="12700">
            <a:solidFill>
              <a:srgbClr val="0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0" y="51114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251960" y="5074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own limits.  </a:t>
            </a:r>
            <a:r>
              <a:rPr lang="en-US" sz="14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 clear about what you didn't have time to check and what you'd do next.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3657600" y="5943600"/>
            <a:ext cx="7863840" cy="10973"/>
          </a:xfrm>
          <a:prstGeom prst="rect">
            <a:avLst/>
          </a:prstGeom>
          <a:solidFill>
            <a:srgbClr val="1C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0" y="6053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luck. Bring us a story we can act 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1346</Words>
  <Application>Microsoft Office PowerPoint</Application>
  <PresentationFormat>Widescreen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CrunchCo — Brand Performance Diagnostic</dc:title>
  <dc:subject>PptxGenJS Presentation</dc:subject>
  <dc:creator>CrunchCo Analytics</dc:creator>
  <cp:lastModifiedBy>sri uma maheswari pureti</cp:lastModifiedBy>
  <cp:revision>2</cp:revision>
  <dcterms:created xsi:type="dcterms:W3CDTF">2026-06-02T07:19:58Z</dcterms:created>
  <dcterms:modified xsi:type="dcterms:W3CDTF">2026-06-12T17:40:57Z</dcterms:modified>
</cp:coreProperties>
</file>